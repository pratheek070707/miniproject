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12192000"/>
  <p:embeddedFontLst>
    <p:embeddedFont>
      <p:font typeface="Source Serif 4" panose="02040603050405020204"/>
      <p:regular r:id="rId15"/>
      <p:bold r:id="rId16"/>
      <p:italic r:id="rId17"/>
      <p:boldItalic r:id="rId18"/>
    </p:embeddedFont>
    <p:embeddedFont>
      <p:font typeface="IBM Plex Sans" panose="020B0503050203000203"/>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7F8162E-5BC3-426B-B583-3A38E1C278EC}"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8.fntdata"/><Relationship Id="rId21" Type="http://schemas.openxmlformats.org/officeDocument/2006/relationships/font" Target="fonts/font7.fntdata"/><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1pPr>
            <a:lvl2pPr marR="0" lvl="1"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2pPr>
            <a:lvl3pPr marR="0" lvl="2"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3pPr>
            <a:lvl4pPr marR="0" lvl="3"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4pPr>
            <a:lvl5pPr marR="0" lvl="4"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5pPr>
            <a:lvl6pPr marR="0" lvl="5"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6pPr>
            <a:lvl7pPr marR="0" lvl="6"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7pPr>
            <a:lvl8pPr marR="0" lvl="7"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8pPr>
            <a:lvl9pPr marR="0" lvl="8"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1pPr>
            <a:lvl2pPr marR="0" lvl="1"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2pPr>
            <a:lvl3pPr marR="0" lvl="2"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3pPr>
            <a:lvl4pPr marR="0" lvl="3"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4pPr>
            <a:lvl5pPr marR="0" lvl="4"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5pPr>
            <a:lvl6pPr marR="0" lvl="5"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6pPr>
            <a:lvl7pPr marR="0" lvl="6"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7pPr>
            <a:lvl8pPr marR="0" lvl="7"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8pPr>
            <a:lvl9pPr marR="0" lvl="8"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1pPr>
            <a:lvl2pPr marL="914400" marR="0" lvl="1"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2pPr>
            <a:lvl3pPr marL="1371600" marR="0" lvl="2"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3pPr>
            <a:lvl4pPr marL="1828800" marR="0" lvl="3"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4pPr>
            <a:lvl5pPr marL="2286000" marR="0" lvl="4"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5pPr>
            <a:lvl6pPr marL="2743200" marR="0" lvl="5"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6pPr>
            <a:lvl7pPr marL="3200400" marR="0" lvl="6"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7pPr>
            <a:lvl8pPr marL="3657600" marR="0" lvl="7"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8pPr>
            <a:lvl9pPr marL="4114800" marR="0" lvl="8" indent="-22860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1pPr>
            <a:lvl2pPr marR="0" lvl="1"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2pPr>
            <a:lvl3pPr marR="0" lvl="2"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3pPr>
            <a:lvl4pPr marR="0" lvl="3"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4pPr>
            <a:lvl5pPr marR="0" lvl="4"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5pPr>
            <a:lvl6pPr marR="0" lvl="5"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6pPr>
            <a:lvl7pPr marR="0" lvl="6"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7pPr>
            <a:lvl8pPr marR="0" lvl="7"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8pPr>
            <a:lvl9pPr marR="0" lvl="8" algn="l" rtl="0">
              <a:spcBef>
                <a:spcPts val="0"/>
              </a:spcBef>
              <a:spcAft>
                <a:spcPts val="0"/>
              </a:spcAft>
              <a:buSzPts val="1400"/>
              <a:buNone/>
              <a:defRPr sz="1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rPr>
            </a:fld>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 name="Shape 16"/>
        <p:cNvGrpSpPr/>
        <p:nvPr/>
      </p:nvGrpSpPr>
      <p:grpSpPr>
        <a:xfrm>
          <a:off x="0" y="0"/>
          <a:ext cx="0" cy="0"/>
          <a:chOff x="0" y="0"/>
          <a:chExt cx="0" cy="0"/>
        </a:xfrm>
      </p:grpSpPr>
      <p:sp>
        <p:nvSpPr>
          <p:cNvPr id="17" name="Google Shape;17;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 name="Google Shape;18;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Time plan for the 10-minute slot (Q&amp;A included): about 6 minutes on these slides, a 3-minute demo video, and the rest for questions. Introduce the team, then state the goal: predict median grain size (d50) and sorting (sigma squared) from four flow and sediment variables.</a:t>
            </a:r>
            <a:endParaRPr lang="en-US"/>
          </a:p>
        </p:txBody>
      </p:sp>
      <p:sp>
        <p:nvSpPr>
          <p:cNvPr id="19" name="Google Shape;19;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State the problem in one sentence: predict d50 and sigma squared from S, ub, np and T. Replace the row count placeholder with the number printed by the notebook (rows used for modelling). Mention that rows with missing values in these six columns were dropped.</a:t>
            </a:r>
            <a:endParaRPr lang="en-US"/>
          </a:p>
        </p:txBody>
      </p:sp>
      <p:sp>
        <p:nvSpPr>
          <p:cNvPr id="28" name="Google Shape;28;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reference paper uses Random Forest and Support Vector Regression on the four selected features. We reproduce both with the paper's settings. XGBoost is not in the paper; we add it because boosted trees often do well on small tabular data and give a direct comparison with the forest, since both use the same split and features.</a:t>
            </a:r>
            <a:endParaRPr lang="en-US"/>
          </a:p>
        </p:txBody>
      </p:sp>
      <p:sp>
        <p:nvSpPr>
          <p:cNvPr id="47" name="Google Shape;47;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Fill the Our R² column from the notebook output (section 9, final comparison table). The reported values come from the paper: Random Forest 0.81 for d50 and 0.75 for sigma squared, SVR 0.76 for both. Say whether we land close to the paper and, if there is a gap, give a reason such as a different random split or dataset version.</a:t>
            </a:r>
            <a:endParaRPr lang="en-US"/>
          </a:p>
        </p:txBody>
      </p:sp>
      <p:sp>
        <p:nvSpPr>
          <p:cNvPr id="67" name="Google Shape;67;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Read the two XGBoost R-squared values from the notebook output and type them into the boxes. The paper has no XGBoost result, so there is nothing to compare against directly. Compare with our own Random Forest on the next slide. Point to the prediction plots: points close to the dashed diagonal mean good predictions.</a:t>
            </a:r>
            <a:endParaRPr lang="en-US"/>
          </a:p>
        </p:txBody>
      </p:sp>
      <p:sp>
        <p:nvSpPr>
          <p:cNvPr id="76" name="Google Shape;76;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one-slide summary of the whole project, so spend about a minute here. Fill every placeholder from the final comparison table in the notebook (section 9, also saved as final_model_results.csv). Name the best model for each target and say by how much it wins.</a:t>
            </a:r>
            <a:endParaRPr lang="en-US"/>
          </a:p>
        </p:txBody>
      </p:sp>
      <p:sp>
        <p:nvSpPr>
          <p:cNvPr id="95" name="Google Shape;95;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 name="Shape 101"/>
        <p:cNvGrpSpPr/>
        <p:nvPr/>
      </p:nvGrpSpPr>
      <p:grpSpPr>
        <a:xfrm>
          <a:off x="0" y="0"/>
          <a:ext cx="0" cy="0"/>
          <a:chOff x="0" y="0"/>
          <a:chExt cx="0" cy="0"/>
        </a:xfrm>
      </p:grpSpPr>
      <p:sp>
        <p:nvSpPr>
          <p:cNvPr id="102" name="Google Shape;102;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Choose the wording in brackets once the notebook has been run. Feature importance is in section 5 of the notebook (feature_importance.csv). The limits are real: every number comes from a single 70/30 split with seed 42, and the XGBoost parameters were fixed by hand, not tuned on a validation set.</a:t>
            </a:r>
            <a:endParaRPr lang="en-US"/>
          </a:p>
        </p:txBody>
      </p:sp>
      <p:sp>
        <p:nvSpPr>
          <p:cNvPr id="104" name="Google Shape;104;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Play the 3-minute demo video here, then take questions. The video should follow the notebook: upload the dataset, run Random Forest, SVR and XGBoost, and end on the final comparison table. Keep the total inside 10 minutes, Q&amp;A included, because exceeding it is penalised.</a:t>
            </a:r>
            <a:endParaRPr lang="en-US"/>
          </a:p>
        </p:txBody>
      </p:sp>
      <p:sp>
        <p:nvSpPr>
          <p:cNvPr id="123" name="Google Shape;123;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6F4EE"/>
        </a:solidFill>
        <a:effectLst/>
      </p:bgPr>
    </p:bg>
    <p:spTree>
      <p:nvGrpSpPr>
        <p:cNvPr id="12" name="Shape 12"/>
        <p:cNvGrpSpPr/>
        <p:nvPr/>
      </p:nvGrpSpPr>
      <p:grpSpPr>
        <a:xfrm>
          <a:off x="0" y="0"/>
          <a:ext cx="0" cy="0"/>
          <a:chOff x="0" y="0"/>
          <a:chExt cx="0" cy="0"/>
        </a:xfrm>
      </p:grpSpPr>
      <p:sp>
        <p:nvSpPr>
          <p:cNvPr id="13" name="Google Shape;13;p2"/>
          <p:cNvSpPr txBox="1"/>
          <p:nvPr>
            <p:ph type="title"/>
          </p:nvPr>
        </p:nvSpPr>
        <p:spPr>
          <a:xfrm>
            <a:off x="812800" y="812800"/>
            <a:ext cx="10566400" cy="50292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4232B"/>
              </a:buClr>
              <a:buSzPts val="3600"/>
              <a:buFont typeface="Source Serif 4" panose="02040603050405020204"/>
              <a:buNone/>
              <a:defRPr sz="3600">
                <a:solidFill>
                  <a:srgbClr val="14232B"/>
                </a:solidFill>
                <a:latin typeface="Source Serif 4" panose="02040603050405020204"/>
                <a:ea typeface="Source Serif 4" panose="02040603050405020204"/>
                <a:cs typeface="Source Serif 4" panose="02040603050405020204"/>
                <a:sym typeface="Source Serif 4" panose="02040603050405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type="body" idx="1"/>
          </p:nvPr>
        </p:nvSpPr>
        <p:spPr>
          <a:xfrm>
            <a:off x="812800" y="1620520"/>
            <a:ext cx="10566400" cy="4424680"/>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4232B"/>
              </a:buClr>
              <a:buSzPts val="1600"/>
              <a:buNone/>
              <a:defRPr sz="1600">
                <a:solidFill>
                  <a:srgbClr val="14232B"/>
                </a:solidFill>
                <a:latin typeface="IBM Plex Sans" panose="020B0503050203000203"/>
                <a:ea typeface="IBM Plex Sans" panose="020B0503050203000203"/>
                <a:cs typeface="IBM Plex Sans" panose="020B0503050203000203"/>
                <a:sym typeface="IBM Plex Sans" panose="020B0503050203000203"/>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12800" y="812800"/>
            <a:ext cx="10566400" cy="50292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4232B"/>
              </a:buClr>
              <a:buSzPts val="3600"/>
              <a:buFont typeface="Source Serif 4" panose="02040603050405020204"/>
              <a:buNone/>
              <a:defRPr sz="3600" b="0" i="0" u="none" strike="noStrike" cap="none">
                <a:solidFill>
                  <a:srgbClr val="14232B"/>
                </a:solidFill>
                <a:latin typeface="Source Serif 4" panose="02040603050405020204"/>
                <a:ea typeface="Source Serif 4" panose="02040603050405020204"/>
                <a:cs typeface="Source Serif 4" panose="02040603050405020204"/>
                <a:sym typeface="Source Serif 4" panose="02040603050405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12800" y="1620520"/>
            <a:ext cx="10566400" cy="4424680"/>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4232B"/>
              </a:buClr>
              <a:buSzPts val="1600"/>
              <a:buFont typeface="Arial" panose="020B0604020202020204"/>
              <a:buNone/>
              <a:defRPr sz="1600" b="0" i="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32B"/>
        </a:solidFill>
        <a:effectLst/>
      </p:bgPr>
    </p:bg>
    <p:spTree>
      <p:nvGrpSpPr>
        <p:cNvPr id="20" name="Shape 20"/>
        <p:cNvGrpSpPr/>
        <p:nvPr/>
      </p:nvGrpSpPr>
      <p:grpSpPr>
        <a:xfrm>
          <a:off x="0" y="0"/>
          <a:ext cx="0" cy="0"/>
          <a:chOff x="0" y="0"/>
          <a:chExt cx="0" cy="0"/>
        </a:xfrm>
      </p:grpSpPr>
      <p:sp>
        <p:nvSpPr>
          <p:cNvPr id="21" name="Google Shape;21;p4"/>
          <p:cNvSpPr/>
          <p:nvPr/>
        </p:nvSpPr>
        <p:spPr>
          <a:xfrm>
            <a:off x="767715" y="1340485"/>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0A458"/>
              </a:buClr>
              <a:buSzPts val="1400"/>
              <a:buFont typeface="IBM Plex Sans" panose="020B0503050203000203"/>
              <a:buNone/>
            </a:pPr>
            <a:r>
              <a:rPr lang="en-US" sz="14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MACHINE LEARNING MINI PROJECT</a:t>
            </a:r>
            <a:endParaRPr sz="14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22" name="Google Shape;22;p4"/>
          <p:cNvSpPr txBox="1"/>
          <p:nvPr>
            <p:ph type="title"/>
          </p:nvPr>
        </p:nvSpPr>
        <p:spPr>
          <a:xfrm>
            <a:off x="695325" y="2348940"/>
            <a:ext cx="10883400" cy="203700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F6F4EE"/>
              </a:buClr>
              <a:buSzPct val="96000"/>
              <a:buFont typeface="Source Serif 4" panose="02040603050405020204"/>
              <a:buNone/>
            </a:pPr>
            <a:r>
              <a:rPr lang="en-US" sz="5020" b="1" i="0">
                <a:solidFill>
                  <a:srgbClr val="F6F4EE"/>
                </a:solidFill>
                <a:latin typeface="Source Serif 4" panose="02040603050405020204"/>
                <a:ea typeface="Source Serif 4" panose="02040603050405020204"/>
                <a:cs typeface="Source Serif 4" panose="02040603050405020204"/>
                <a:sym typeface="Source Serif 4" panose="02040603050405020204"/>
              </a:rPr>
              <a:t>Predicting Sediment Particle Size Distributions with Machine Learning</a:t>
            </a:r>
            <a:endParaRPr sz="5020"/>
          </a:p>
        </p:txBody>
      </p:sp>
      <p:sp>
        <p:nvSpPr>
          <p:cNvPr id="23" name="Google Shape;23;p4"/>
          <p:cNvSpPr/>
          <p:nvPr/>
        </p:nvSpPr>
        <p:spPr>
          <a:xfrm>
            <a:off x="695325" y="4149090"/>
            <a:ext cx="10883392"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9CCD1"/>
              </a:buClr>
              <a:buSzPts val="2000"/>
              <a:buFont typeface="IBM Plex Sans" panose="020B0503050203000203"/>
              <a:buNone/>
            </a:pPr>
            <a:r>
              <a:rPr lang="en-US" sz="2000" b="0" i="0" u="none" strike="noStrike" cap="none">
                <a:solidFill>
                  <a:srgbClr val="B9CCD1"/>
                </a:solidFill>
                <a:latin typeface="IBM Plex Sans" panose="020B0503050203000203"/>
                <a:ea typeface="IBM Plex Sans" panose="020B0503050203000203"/>
                <a:cs typeface="IBM Plex Sans" panose="020B0503050203000203"/>
                <a:sym typeface="IBM Plex Sans" panose="020B0503050203000203"/>
              </a:rPr>
              <a:t>Reproducing Random Forest and SVR, then extending with XGBoost</a:t>
            </a:r>
            <a:endParaRPr sz="2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24" name="Google Shape;24;p4"/>
          <p:cNvSpPr/>
          <p:nvPr/>
        </p:nvSpPr>
        <p:spPr>
          <a:xfrm>
            <a:off x="767715" y="4869030"/>
            <a:ext cx="57948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9CCD1"/>
              </a:buClr>
              <a:buSzPts val="1200"/>
              <a:buFont typeface="IBM Plex Sans" panose="020B0503050203000203"/>
              <a:buNone/>
            </a:pPr>
            <a:r>
              <a:rPr lang="en-US" sz="1200" b="0" i="0" u="none" strike="noStrike" cap="none">
                <a:solidFill>
                  <a:srgbClr val="B9CCD1"/>
                </a:solidFill>
                <a:latin typeface="IBM Plex Sans" panose="020B0503050203000203"/>
                <a:ea typeface="IBM Plex Sans" panose="020B0503050203000203"/>
                <a:cs typeface="IBM Plex Sans" panose="020B0503050203000203"/>
                <a:sym typeface="IBM Plex Sans" panose="020B0503050203000203"/>
              </a:rPr>
              <a:t>Team:</a:t>
            </a:r>
            <a:r>
              <a:rPr lang="en-US" sz="1200">
                <a:solidFill>
                  <a:srgbClr val="B9CCD1"/>
                </a:solidFill>
                <a:latin typeface="IBM Plex Sans" panose="020B0503050203000203"/>
                <a:ea typeface="IBM Plex Sans" panose="020B0503050203000203"/>
                <a:cs typeface="IBM Plex Sans" panose="020B0503050203000203"/>
                <a:sym typeface="IBM Plex Sans" panose="020B0503050203000203"/>
              </a:rPr>
              <a:t> Nidhi Yedida - PES2UG24CS673</a:t>
            </a:r>
            <a:r>
              <a:rPr lang="en-IN" altLang="en-US" sz="1200">
                <a:solidFill>
                  <a:srgbClr val="B9CCD1"/>
                </a:solidFill>
                <a:latin typeface="IBM Plex Sans" panose="020B0503050203000203"/>
                <a:ea typeface="IBM Plex Sans" panose="020B0503050203000203"/>
                <a:cs typeface="IBM Plex Sans" panose="020B0503050203000203"/>
                <a:sym typeface="IBM Plex Sans" panose="020B0503050203000203"/>
              </a:rPr>
              <a:t> </a:t>
            </a:r>
            <a:r>
              <a:rPr lang="en-US" sz="1200">
                <a:solidFill>
                  <a:srgbClr val="B9CCD1"/>
                </a:solidFill>
                <a:latin typeface="IBM Plex Sans" panose="020B0503050203000203"/>
                <a:ea typeface="IBM Plex Sans" panose="020B0503050203000203"/>
                <a:cs typeface="IBM Plex Sans" panose="020B0503050203000203"/>
                <a:sym typeface="IBM Plex Sans" panose="020B0503050203000203"/>
              </a:rPr>
              <a:t>|</a:t>
            </a:r>
            <a:r>
              <a:rPr lang="en-IN" altLang="en-US" sz="1200">
                <a:solidFill>
                  <a:srgbClr val="B9CCD1"/>
                </a:solidFill>
                <a:latin typeface="IBM Plex Sans" panose="020B0503050203000203"/>
                <a:ea typeface="IBM Plex Sans" panose="020B0503050203000203"/>
                <a:cs typeface="IBM Plex Sans" panose="020B0503050203000203"/>
                <a:sym typeface="IBM Plex Sans" panose="020B0503050203000203"/>
              </a:rPr>
              <a:t> </a:t>
            </a:r>
            <a:r>
              <a:rPr lang="en-US" sz="1200">
                <a:solidFill>
                  <a:srgbClr val="B9CCD1"/>
                </a:solidFill>
                <a:latin typeface="IBM Plex Sans" panose="020B0503050203000203"/>
                <a:ea typeface="IBM Plex Sans" panose="020B0503050203000203"/>
                <a:cs typeface="IBM Plex Sans" panose="020B0503050203000203"/>
                <a:sym typeface="IBM Plex Sans" panose="020B0503050203000203"/>
              </a:rPr>
              <a:t>Pratheek P Shettigar - PES2UG24CS650 </a:t>
            </a:r>
            <a:r>
              <a:rPr lang="en-US" sz="1200" b="0" i="0" u="none" strike="noStrike" cap="none">
                <a:solidFill>
                  <a:srgbClr val="B9CCD1"/>
                </a:solidFill>
                <a:latin typeface="IBM Plex Sans" panose="020B0503050203000203"/>
                <a:ea typeface="IBM Plex Sans" panose="020B0503050203000203"/>
                <a:cs typeface="IBM Plex Sans" panose="020B0503050203000203"/>
                <a:sym typeface="IBM Plex Sans" panose="020B0503050203000203"/>
              </a:rPr>
              <a:t> </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29" name="Shape 29"/>
        <p:cNvGrpSpPr/>
        <p:nvPr/>
      </p:nvGrpSpPr>
      <p:grpSpPr>
        <a:xfrm>
          <a:off x="0" y="0"/>
          <a:ext cx="0" cy="0"/>
          <a:chOff x="0" y="0"/>
          <a:chExt cx="0" cy="0"/>
        </a:xfrm>
      </p:grpSpPr>
      <p:sp>
        <p:nvSpPr>
          <p:cNvPr id="30" name="Google Shape;30;p5"/>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14232B"/>
              </a:buClr>
              <a:buSzPts val="3600"/>
              <a:buFont typeface="Source Serif 4" panose="02040603050405020204"/>
              <a:buNone/>
            </a:pPr>
            <a:r>
              <a:rPr lang="en-US" sz="3600" b="1" i="0">
                <a:solidFill>
                  <a:srgbClr val="14232B"/>
                </a:solidFill>
                <a:latin typeface="Source Serif 4" panose="02040603050405020204"/>
                <a:ea typeface="Source Serif 4" panose="02040603050405020204"/>
                <a:cs typeface="Source Serif 4" panose="02040603050405020204"/>
                <a:sym typeface="Source Serif 4" panose="02040603050405020204"/>
              </a:rPr>
              <a:t>Problem statement and dataset</a:t>
            </a:r>
            <a:endParaRPr sz="3600"/>
          </a:p>
        </p:txBody>
      </p:sp>
      <p:sp>
        <p:nvSpPr>
          <p:cNvPr id="31" name="Google Shape;31;p5"/>
          <p:cNvSpPr/>
          <p:nvPr/>
        </p:nvSpPr>
        <p:spPr>
          <a:xfrm>
            <a:off x="815975" y="1674495"/>
            <a:ext cx="5461000" cy="3775710"/>
          </a:xfrm>
          <a:prstGeom prst="roundRect">
            <a:avLst>
              <a:gd name="adj" fmla="val 2607"/>
            </a:avLst>
          </a:prstGeom>
          <a:solidFill>
            <a:srgbClr val="FFFFFF"/>
          </a:solidFill>
          <a:ln w="9525" cap="flat" cmpd="sng">
            <a:solidFill>
              <a:srgbClr val="DDD8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5"/>
          <p:cNvSpPr/>
          <p:nvPr/>
        </p:nvSpPr>
        <p:spPr>
          <a:xfrm>
            <a:off x="1123950" y="1982470"/>
            <a:ext cx="4990402"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B6F7E"/>
              </a:buClr>
              <a:buSzPts val="2200"/>
              <a:buFont typeface="IBM Plex Sans" panose="020B0503050203000203"/>
              <a:buNone/>
            </a:pPr>
            <a:r>
              <a:rPr lang="en-US" sz="2200" b="1" i="0" u="none" strike="noStrike" cap="none">
                <a:solidFill>
                  <a:srgbClr val="2B6F7E"/>
                </a:solidFill>
                <a:latin typeface="IBM Plex Sans" panose="020B0503050203000203"/>
                <a:ea typeface="IBM Plex Sans" panose="020B0503050203000203"/>
                <a:cs typeface="IBM Plex Sans" panose="020B0503050203000203"/>
                <a:sym typeface="IBM Plex Sans" panose="020B0503050203000203"/>
              </a:rPr>
              <a:t>The problem</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33" name="Google Shape;33;p5"/>
          <p:cNvSpPr/>
          <p:nvPr/>
        </p:nvSpPr>
        <p:spPr>
          <a:xfrm>
            <a:off x="1123950" y="2470150"/>
            <a:ext cx="4990402" cy="8788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Particle size distributions decide how sediment is transported and deposited, but measuring them is slow and costly.</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34" name="Google Shape;34;p5"/>
          <p:cNvSpPr/>
          <p:nvPr/>
        </p:nvSpPr>
        <p:spPr>
          <a:xfrm>
            <a:off x="1123950" y="3475990"/>
            <a:ext cx="4990402"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We predict two descriptors of the distribution from four measured variables using machine learning.</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35" name="Google Shape;35;p5"/>
          <p:cNvSpPr/>
          <p:nvPr/>
        </p:nvSpPr>
        <p:spPr>
          <a:xfrm>
            <a:off x="6537325" y="1674495"/>
            <a:ext cx="4838700" cy="1621790"/>
          </a:xfrm>
          <a:prstGeom prst="roundRect">
            <a:avLst>
              <a:gd name="adj" fmla="val 6069"/>
            </a:avLst>
          </a:prstGeom>
          <a:solidFill>
            <a:srgbClr val="FFFFFF"/>
          </a:solidFill>
          <a:ln w="9525" cap="flat" cmpd="sng">
            <a:solidFill>
              <a:srgbClr val="DDD8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36;p5"/>
          <p:cNvSpPr/>
          <p:nvPr/>
        </p:nvSpPr>
        <p:spPr>
          <a:xfrm>
            <a:off x="6845300" y="1931670"/>
            <a:ext cx="4349433"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B6F7E"/>
              </a:buClr>
              <a:buSzPts val="2200"/>
              <a:buFont typeface="IBM Plex Sans" panose="020B0503050203000203"/>
              <a:buNone/>
            </a:pPr>
            <a:r>
              <a:rPr lang="en-US" sz="2200" b="1" i="0" u="none" strike="noStrike" cap="none">
                <a:solidFill>
                  <a:srgbClr val="2B6F7E"/>
                </a:solidFill>
                <a:latin typeface="IBM Plex Sans" panose="020B0503050203000203"/>
                <a:ea typeface="IBM Plex Sans" panose="020B0503050203000203"/>
                <a:cs typeface="IBM Plex Sans" panose="020B0503050203000203"/>
                <a:sym typeface="IBM Plex Sans" panose="020B0503050203000203"/>
              </a:rPr>
              <a:t>Targets</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37" name="Google Shape;37;p5"/>
          <p:cNvSpPr/>
          <p:nvPr/>
        </p:nvSpPr>
        <p:spPr>
          <a:xfrm>
            <a:off x="6845300" y="2368550"/>
            <a:ext cx="4349433"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1"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d50</a:t>
            </a: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 · median particle size</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38" name="Google Shape;38;p5"/>
          <p:cNvSpPr/>
          <p:nvPr/>
        </p:nvSpPr>
        <p:spPr>
          <a:xfrm>
            <a:off x="6845300" y="2754630"/>
            <a:ext cx="4349433"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1"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σ²</a:t>
            </a: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 · spread of the size distribution</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39" name="Google Shape;39;p5"/>
          <p:cNvSpPr/>
          <p:nvPr/>
        </p:nvSpPr>
        <p:spPr>
          <a:xfrm>
            <a:off x="6534150" y="3553460"/>
            <a:ext cx="4845050" cy="1899920"/>
          </a:xfrm>
          <a:prstGeom prst="roundRect">
            <a:avLst>
              <a:gd name="adj" fmla="val 5348"/>
            </a:avLst>
          </a:prstGeom>
          <a:solidFill>
            <a:srgbClr val="1423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5"/>
          <p:cNvSpPr/>
          <p:nvPr/>
        </p:nvSpPr>
        <p:spPr>
          <a:xfrm>
            <a:off x="6838950" y="3807460"/>
            <a:ext cx="4362514"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2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Dataset</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41" name="Google Shape;41;p5"/>
          <p:cNvSpPr/>
          <p:nvPr/>
        </p:nvSpPr>
        <p:spPr>
          <a:xfrm>
            <a:off x="6838950" y="4244340"/>
            <a:ext cx="4362514"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1"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Features:</a:t>
            </a: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 S, ub, np, T, the four most important in the reference paper</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42" name="Google Shape;42;p5"/>
          <p:cNvSpPr/>
          <p:nvPr/>
        </p:nvSpPr>
        <p:spPr>
          <a:xfrm>
            <a:off x="6838950" y="4914900"/>
            <a:ext cx="4540250"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500" b="1"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Rows used:</a:t>
            </a:r>
            <a:r>
              <a:rPr lang="en-US" sz="15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 </a:t>
            </a:r>
            <a:r>
              <a:rPr lang="en-US" sz="1500">
                <a:solidFill>
                  <a:schemeClr val="lt1"/>
                </a:solidFill>
                <a:latin typeface="IBM Plex Sans" panose="020B0503050203000203"/>
                <a:ea typeface="IBM Plex Sans" panose="020B0503050203000203"/>
                <a:cs typeface="IBM Plex Sans" panose="020B0503050203000203"/>
                <a:sym typeface="IBM Plex Sans" panose="020B0503050203000203"/>
              </a:rPr>
              <a:t>1,648 - none dropped for missing values</a:t>
            </a:r>
            <a:endParaRPr sz="15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F6F4EE"/>
              </a:buClr>
              <a:buSzPts val="1600"/>
              <a:buFont typeface="IBM Plex Sans" panose="020B0503050203000203"/>
              <a:buNone/>
            </a:pPr>
            <a:endParaRPr sz="1600">
              <a:solidFill>
                <a:srgbClr val="F6F4EE"/>
              </a:solidFill>
              <a:latin typeface="IBM Plex Sans" panose="020B0503050203000203"/>
              <a:ea typeface="IBM Plex Sans" panose="020B0503050203000203"/>
              <a:cs typeface="IBM Plex Sans" panose="020B0503050203000203"/>
              <a:sym typeface="IBM Plex Sans" panose="020B0503050203000203"/>
            </a:endParaRPr>
          </a:p>
        </p:txBody>
      </p:sp>
      <p:sp>
        <p:nvSpPr>
          <p:cNvPr id="43" name="Google Shape;43;p5"/>
          <p:cNvSpPr/>
          <p:nvPr/>
        </p:nvSpPr>
        <p:spPr>
          <a:xfrm>
            <a:off x="812800" y="6238239"/>
            <a:ext cx="264007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B72"/>
              </a:buClr>
              <a:buSzPts val="1200"/>
              <a:buFont typeface="IBM Plex Sans" panose="020B0503050203000203"/>
              <a:buNone/>
            </a:pPr>
            <a:r>
              <a:rPr lang="en-US" sz="1200" b="0" i="0" u="none" strike="noStrike" cap="none">
                <a:solidFill>
                  <a:srgbClr val="5B6B72"/>
                </a:solidFill>
                <a:latin typeface="IBM Plex Sans" panose="020B0503050203000203"/>
                <a:ea typeface="IBM Plex Sans" panose="020B0503050203000203"/>
                <a:cs typeface="IBM Plex Sans" panose="020B0503050203000203"/>
                <a:sym typeface="IBM Plex Sans" panose="020B0503050203000203"/>
              </a:rPr>
              <a:t>Sediment Particle Size ML · 2 / 8</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48" name="Shape 48"/>
        <p:cNvGrpSpPr/>
        <p:nvPr/>
      </p:nvGrpSpPr>
      <p:grpSpPr>
        <a:xfrm>
          <a:off x="0" y="0"/>
          <a:ext cx="0" cy="0"/>
          <a:chOff x="0" y="0"/>
          <a:chExt cx="0" cy="0"/>
        </a:xfrm>
      </p:grpSpPr>
      <p:sp>
        <p:nvSpPr>
          <p:cNvPr id="49" name="Google Shape;49;p6"/>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14232B"/>
              </a:buClr>
              <a:buSzPts val="3600"/>
              <a:buFont typeface="Source Serif 4" panose="02040603050405020204"/>
              <a:buNone/>
            </a:pPr>
            <a:r>
              <a:rPr lang="en-US" sz="3600" b="1" i="0">
                <a:solidFill>
                  <a:srgbClr val="14232B"/>
                </a:solidFill>
                <a:latin typeface="Source Serif 4" panose="02040603050405020204"/>
                <a:ea typeface="Source Serif 4" panose="02040603050405020204"/>
                <a:cs typeface="Source Serif 4" panose="02040603050405020204"/>
                <a:sym typeface="Source Serif 4" panose="02040603050405020204"/>
              </a:rPr>
              <a:t>Existing approaches and our add-on</a:t>
            </a:r>
            <a:endParaRPr sz="3600"/>
          </a:p>
        </p:txBody>
      </p:sp>
      <p:sp>
        <p:nvSpPr>
          <p:cNvPr id="50" name="Google Shape;50;p6"/>
          <p:cNvSpPr/>
          <p:nvPr/>
        </p:nvSpPr>
        <p:spPr>
          <a:xfrm>
            <a:off x="815975" y="1674495"/>
            <a:ext cx="5156200" cy="3503930"/>
          </a:xfrm>
          <a:prstGeom prst="roundRect">
            <a:avLst>
              <a:gd name="adj" fmla="val 2809"/>
            </a:avLst>
          </a:prstGeom>
          <a:solidFill>
            <a:srgbClr val="FFFFFF"/>
          </a:solidFill>
          <a:ln w="9525" cap="flat" cmpd="sng">
            <a:solidFill>
              <a:srgbClr val="DDD8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6"/>
          <p:cNvSpPr/>
          <p:nvPr/>
        </p:nvSpPr>
        <p:spPr>
          <a:xfrm>
            <a:off x="1123950" y="1982470"/>
            <a:ext cx="4676458"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B6F7E"/>
              </a:buClr>
              <a:buSzPts val="1400"/>
              <a:buFont typeface="IBM Plex Sans" panose="020B0503050203000203"/>
              <a:buNone/>
            </a:pPr>
            <a:r>
              <a:rPr lang="en-US" sz="1400" b="1" i="0" u="none" strike="noStrike" cap="none">
                <a:solidFill>
                  <a:srgbClr val="2B6F7E"/>
                </a:solidFill>
                <a:latin typeface="IBM Plex Sans" panose="020B0503050203000203"/>
                <a:ea typeface="IBM Plex Sans" panose="020B0503050203000203"/>
                <a:cs typeface="IBM Plex Sans" panose="020B0503050203000203"/>
                <a:sym typeface="IBM Plex Sans" panose="020B0503050203000203"/>
              </a:rPr>
              <a:t>REFERENCE PAPER</a:t>
            </a:r>
            <a:endParaRPr sz="14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2" name="Google Shape;52;p6"/>
          <p:cNvSpPr/>
          <p:nvPr/>
        </p:nvSpPr>
        <p:spPr>
          <a:xfrm>
            <a:off x="1123950" y="2383789"/>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4232B"/>
              </a:buClr>
              <a:buSzPts val="2200"/>
              <a:buFont typeface="IBM Plex Sans" panose="020B0503050203000203"/>
              <a:buNone/>
            </a:pPr>
            <a:r>
              <a:rPr lang="en-US" sz="2200" b="1" i="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Random Forest</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3" name="Google Shape;53;p6"/>
          <p:cNvSpPr/>
          <p:nvPr/>
        </p:nvSpPr>
        <p:spPr>
          <a:xfrm>
            <a:off x="1123950" y="2871470"/>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32 trees, 70/30 train-test split</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4" name="Google Shape;54;p6"/>
          <p:cNvSpPr/>
          <p:nvPr/>
        </p:nvSpPr>
        <p:spPr>
          <a:xfrm>
            <a:off x="1123950" y="3308350"/>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4232B"/>
              </a:buClr>
              <a:buSzPts val="2200"/>
              <a:buFont typeface="IBM Plex Sans" panose="020B0503050203000203"/>
              <a:buNone/>
            </a:pPr>
            <a:r>
              <a:rPr lang="en-US" sz="2200" b="1" i="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Support Vector Regression</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5" name="Google Shape;55;p6"/>
          <p:cNvSpPr/>
          <p:nvPr/>
        </p:nvSpPr>
        <p:spPr>
          <a:xfrm>
            <a:off x="1123950" y="3796030"/>
            <a:ext cx="4676458"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C = 2048, ε = 4, 70/15/15 train, validation and test split</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6" name="Google Shape;56;p6"/>
          <p:cNvSpPr/>
          <p:nvPr/>
        </p:nvSpPr>
        <p:spPr>
          <a:xfrm>
            <a:off x="1123950" y="4517389"/>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Metric: R² on the held-out test set</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7" name="Google Shape;57;p6"/>
          <p:cNvSpPr/>
          <p:nvPr/>
        </p:nvSpPr>
        <p:spPr>
          <a:xfrm>
            <a:off x="6229350" y="1671320"/>
            <a:ext cx="5149850" cy="3510280"/>
          </a:xfrm>
          <a:prstGeom prst="roundRect">
            <a:avLst>
              <a:gd name="adj" fmla="val 2894"/>
            </a:avLst>
          </a:prstGeom>
          <a:solidFill>
            <a:srgbClr val="1423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6"/>
          <p:cNvSpPr/>
          <p:nvPr/>
        </p:nvSpPr>
        <p:spPr>
          <a:xfrm>
            <a:off x="6534150" y="1976120"/>
            <a:ext cx="4676458"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0A458"/>
              </a:buClr>
              <a:buSzPts val="1400"/>
              <a:buFont typeface="IBM Plex Sans" panose="020B0503050203000203"/>
              <a:buNone/>
            </a:pPr>
            <a:r>
              <a:rPr lang="en-US" sz="14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OUR ADD-ON</a:t>
            </a:r>
            <a:endParaRPr sz="14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59" name="Google Shape;59;p6"/>
          <p:cNvSpPr/>
          <p:nvPr/>
        </p:nvSpPr>
        <p:spPr>
          <a:xfrm>
            <a:off x="6534150" y="2377439"/>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6F4EE"/>
              </a:buClr>
              <a:buSzPts val="2200"/>
              <a:buFont typeface="IBM Plex Sans" panose="020B0503050203000203"/>
              <a:buNone/>
            </a:pPr>
            <a:r>
              <a:rPr lang="en-US" sz="2200" b="1"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XGBoost Regression</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60" name="Google Shape;60;p6"/>
          <p:cNvSpPr/>
          <p:nvPr/>
        </p:nvSpPr>
        <p:spPr>
          <a:xfrm>
            <a:off x="6534150" y="2865120"/>
            <a:ext cx="4676458"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Gradient-boosted trees: each tree corrects the errors of the previous ones</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61" name="Google Shape;61;p6"/>
          <p:cNvSpPr/>
          <p:nvPr/>
        </p:nvSpPr>
        <p:spPr>
          <a:xfrm>
            <a:off x="6534150" y="3586480"/>
            <a:ext cx="4676458"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100 trees, depth 3, learning rate 0.05, subsample 0.8</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62" name="Google Shape;62;p6"/>
          <p:cNvSpPr/>
          <p:nvPr/>
        </p:nvSpPr>
        <p:spPr>
          <a:xfrm>
            <a:off x="6534150" y="4307839"/>
            <a:ext cx="4676458"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Same 70/30 split as Random Forest, so the comparison is fair</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63" name="Google Shape;63;p6"/>
          <p:cNvSpPr/>
          <p:nvPr/>
        </p:nvSpPr>
        <p:spPr>
          <a:xfrm>
            <a:off x="812800" y="6238239"/>
            <a:ext cx="264007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B72"/>
              </a:buClr>
              <a:buSzPts val="1200"/>
              <a:buFont typeface="IBM Plex Sans" panose="020B0503050203000203"/>
              <a:buNone/>
            </a:pPr>
            <a:r>
              <a:rPr lang="en-US" sz="1200" b="0" i="0" u="none" strike="noStrike" cap="none">
                <a:solidFill>
                  <a:srgbClr val="5B6B72"/>
                </a:solidFill>
                <a:latin typeface="IBM Plex Sans" panose="020B0503050203000203"/>
                <a:ea typeface="IBM Plex Sans" panose="020B0503050203000203"/>
                <a:cs typeface="IBM Plex Sans" panose="020B0503050203000203"/>
                <a:sym typeface="IBM Plex Sans" panose="020B0503050203000203"/>
              </a:rPr>
              <a:t>Sediment Particle Size ML · 3 / 8</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68" name="Shape 68"/>
        <p:cNvGrpSpPr/>
        <p:nvPr/>
      </p:nvGrpSpPr>
      <p:grpSpPr>
        <a:xfrm>
          <a:off x="0" y="0"/>
          <a:ext cx="0" cy="0"/>
          <a:chOff x="0" y="0"/>
          <a:chExt cx="0" cy="0"/>
        </a:xfrm>
      </p:grpSpPr>
      <p:sp>
        <p:nvSpPr>
          <p:cNvPr id="69" name="Google Shape;69;p7"/>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14232B"/>
              </a:buClr>
              <a:buSzPts val="3600"/>
              <a:buFont typeface="Source Serif 4" panose="02040603050405020204"/>
              <a:buNone/>
            </a:pPr>
            <a:r>
              <a:rPr lang="en-US" sz="3600" b="1" i="0">
                <a:solidFill>
                  <a:srgbClr val="14232B"/>
                </a:solidFill>
                <a:latin typeface="Source Serif 4" panose="02040603050405020204"/>
                <a:ea typeface="Source Serif 4" panose="02040603050405020204"/>
                <a:cs typeface="Source Serif 4" panose="02040603050405020204"/>
                <a:sym typeface="Source Serif 4" panose="02040603050405020204"/>
              </a:rPr>
              <a:t>Reproduced results from the reference</a:t>
            </a:r>
            <a:endParaRPr sz="3600"/>
          </a:p>
        </p:txBody>
      </p:sp>
      <p:graphicFrame>
        <p:nvGraphicFramePr>
          <p:cNvPr id="70" name="Google Shape;70;p7"/>
          <p:cNvGraphicFramePr/>
          <p:nvPr/>
        </p:nvGraphicFramePr>
        <p:xfrm>
          <a:off x="825500" y="1633220"/>
          <a:ext cx="10553725" cy="3000000"/>
        </p:xfrm>
        <a:graphic>
          <a:graphicData uri="http://schemas.openxmlformats.org/drawingml/2006/table">
            <a:tbl>
              <a:tblPr>
                <a:noFill/>
                <a:tableStyleId>{67F8162E-5BC3-426B-B583-3A38E1C278EC}</a:tableStyleId>
              </a:tblPr>
              <a:tblGrid>
                <a:gridCol w="2955025"/>
                <a:gridCol w="1688600"/>
                <a:gridCol w="2110750"/>
                <a:gridCol w="1899675"/>
                <a:gridCol w="1899675"/>
              </a:tblGrid>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Model</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Target</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Reported R²</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Our R²</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Difference</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Random Forest</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d50</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0.81</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0.90</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0.09</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Random Forest</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σ²</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0.75</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0.76</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0.01</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SVR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d50</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0.76</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0.89</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0.13</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SVR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σ²</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0.76</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0.75</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-0.01</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r>
            </a:tbl>
          </a:graphicData>
        </a:graphic>
      </p:graphicFrame>
      <p:sp>
        <p:nvSpPr>
          <p:cNvPr id="71" name="Google Shape;71;p7"/>
          <p:cNvSpPr/>
          <p:nvPr/>
        </p:nvSpPr>
        <p:spPr>
          <a:xfrm>
            <a:off x="812800" y="4135120"/>
            <a:ext cx="10883392"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Same features, settings and metric as the paper. Random seed 42 for every split.</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72" name="Google Shape;72;p7"/>
          <p:cNvSpPr/>
          <p:nvPr/>
        </p:nvSpPr>
        <p:spPr>
          <a:xfrm>
            <a:off x="812800" y="6238239"/>
            <a:ext cx="264007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B72"/>
              </a:buClr>
              <a:buSzPts val="1200"/>
              <a:buFont typeface="IBM Plex Sans" panose="020B0503050203000203"/>
              <a:buNone/>
            </a:pPr>
            <a:r>
              <a:rPr lang="en-US" sz="1200" b="0" i="0" u="none" strike="noStrike" cap="none">
                <a:solidFill>
                  <a:srgbClr val="5B6B72"/>
                </a:solidFill>
                <a:latin typeface="IBM Plex Sans" panose="020B0503050203000203"/>
                <a:ea typeface="IBM Plex Sans" panose="020B0503050203000203"/>
                <a:cs typeface="IBM Plex Sans" panose="020B0503050203000203"/>
                <a:sym typeface="IBM Plex Sans" panose="020B0503050203000203"/>
              </a:rPr>
              <a:t>Sediment Particle Size ML · 4 / 8</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77" name="Shape 77"/>
        <p:cNvGrpSpPr/>
        <p:nvPr/>
      </p:nvGrpSpPr>
      <p:grpSpPr>
        <a:xfrm>
          <a:off x="0" y="0"/>
          <a:ext cx="0" cy="0"/>
          <a:chOff x="0" y="0"/>
          <a:chExt cx="0" cy="0"/>
        </a:xfrm>
      </p:grpSpPr>
      <p:sp>
        <p:nvSpPr>
          <p:cNvPr id="78" name="Google Shape;78;p8"/>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14232B"/>
              </a:buClr>
              <a:buSzPts val="3600"/>
              <a:buFont typeface="Source Serif 4" panose="02040603050405020204"/>
              <a:buNone/>
            </a:pPr>
            <a:r>
              <a:rPr lang="en-US" sz="3600" b="1" i="0">
                <a:solidFill>
                  <a:srgbClr val="14232B"/>
                </a:solidFill>
                <a:latin typeface="Source Serif 4" panose="02040603050405020204"/>
                <a:ea typeface="Source Serif 4" panose="02040603050405020204"/>
                <a:cs typeface="Source Serif 4" panose="02040603050405020204"/>
                <a:sym typeface="Source Serif 4" panose="02040603050405020204"/>
              </a:rPr>
              <a:t>Extension results: XGBoost</a:t>
            </a:r>
            <a:endParaRPr sz="3600"/>
          </a:p>
        </p:txBody>
      </p:sp>
      <p:sp>
        <p:nvSpPr>
          <p:cNvPr id="79" name="Google Shape;79;p8"/>
          <p:cNvSpPr/>
          <p:nvPr/>
        </p:nvSpPr>
        <p:spPr>
          <a:xfrm>
            <a:off x="815975" y="1674496"/>
            <a:ext cx="5156200" cy="3691890"/>
          </a:xfrm>
          <a:prstGeom prst="roundRect">
            <a:avLst>
              <a:gd name="adj" fmla="val 2666"/>
            </a:avLst>
          </a:prstGeom>
          <a:solidFill>
            <a:srgbClr val="FFFFFF"/>
          </a:solidFill>
          <a:ln w="9525" cap="flat" cmpd="sng">
            <a:solidFill>
              <a:srgbClr val="DDD8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8"/>
          <p:cNvSpPr/>
          <p:nvPr/>
        </p:nvSpPr>
        <p:spPr>
          <a:xfrm>
            <a:off x="1123950" y="1982471"/>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B6F7E"/>
              </a:buClr>
              <a:buSzPts val="2200"/>
              <a:buFont typeface="IBM Plex Sans" panose="020B0503050203000203"/>
              <a:buNone/>
            </a:pPr>
            <a:r>
              <a:rPr lang="en-US" sz="2200" b="1" i="0" u="none" strike="noStrike" cap="none">
                <a:solidFill>
                  <a:srgbClr val="2B6F7E"/>
                </a:solidFill>
                <a:latin typeface="IBM Plex Sans" panose="020B0503050203000203"/>
                <a:ea typeface="IBM Plex Sans" panose="020B0503050203000203"/>
                <a:cs typeface="IBM Plex Sans" panose="020B0503050203000203"/>
                <a:sym typeface="IBM Plex Sans" panose="020B0503050203000203"/>
              </a:rPr>
              <a:t>Configuration</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1" name="Google Shape;81;p8"/>
          <p:cNvSpPr/>
          <p:nvPr/>
        </p:nvSpPr>
        <p:spPr>
          <a:xfrm>
            <a:off x="1123950" y="2444750"/>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100 trees, max depth 3</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2" name="Google Shape;82;p8"/>
          <p:cNvSpPr/>
          <p:nvPr/>
        </p:nvSpPr>
        <p:spPr>
          <a:xfrm>
            <a:off x="1123950" y="2856229"/>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Learning rate 0.05</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3" name="Google Shape;83;p8"/>
          <p:cNvSpPr/>
          <p:nvPr/>
        </p:nvSpPr>
        <p:spPr>
          <a:xfrm>
            <a:off x="1123950" y="3267711"/>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Row and column subsample 0.8</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4" name="Google Shape;84;p8"/>
          <p:cNvSpPr/>
          <p:nvPr/>
        </p:nvSpPr>
        <p:spPr>
          <a:xfrm>
            <a:off x="1123950" y="3679189"/>
            <a:ext cx="4845050"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Same features and 70/30 split as Random Forest</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5" name="Google Shape;85;p8"/>
          <p:cNvSpPr/>
          <p:nvPr/>
        </p:nvSpPr>
        <p:spPr>
          <a:xfrm>
            <a:off x="6229350" y="1671321"/>
            <a:ext cx="5149850" cy="3698240"/>
          </a:xfrm>
          <a:prstGeom prst="roundRect">
            <a:avLst>
              <a:gd name="adj" fmla="val 2747"/>
            </a:avLst>
          </a:prstGeom>
          <a:solidFill>
            <a:srgbClr val="1423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8"/>
          <p:cNvSpPr/>
          <p:nvPr/>
        </p:nvSpPr>
        <p:spPr>
          <a:xfrm>
            <a:off x="6534150" y="1976121"/>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2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Test R²</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7" name="Google Shape;87;p8"/>
          <p:cNvSpPr/>
          <p:nvPr/>
        </p:nvSpPr>
        <p:spPr>
          <a:xfrm>
            <a:off x="6534150" y="2438400"/>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d50</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8" name="Google Shape;88;p8"/>
          <p:cNvSpPr/>
          <p:nvPr/>
        </p:nvSpPr>
        <p:spPr>
          <a:xfrm>
            <a:off x="6534150" y="2849879"/>
            <a:ext cx="4676458" cy="8636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6F4EE"/>
              </a:buClr>
              <a:buSzPts val="6000"/>
              <a:buFont typeface="IBM Plex Sans" panose="020B0503050203000203"/>
              <a:buNone/>
            </a:pPr>
            <a:r>
              <a:rPr lang="en-US" sz="6000" b="1">
                <a:solidFill>
                  <a:srgbClr val="F6F4EE"/>
                </a:solidFill>
                <a:latin typeface="IBM Plex Sans" panose="020B0503050203000203"/>
                <a:ea typeface="IBM Plex Sans" panose="020B0503050203000203"/>
                <a:cs typeface="IBM Plex Sans" panose="020B0503050203000203"/>
                <a:sym typeface="IBM Plex Sans" panose="020B0503050203000203"/>
              </a:rPr>
              <a:t>0.905</a:t>
            </a:r>
            <a:endParaRPr sz="6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89" name="Google Shape;89;p8"/>
          <p:cNvSpPr/>
          <p:nvPr/>
        </p:nvSpPr>
        <p:spPr>
          <a:xfrm>
            <a:off x="6534150" y="3815079"/>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σ²</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90" name="Google Shape;90;p8"/>
          <p:cNvSpPr/>
          <p:nvPr/>
        </p:nvSpPr>
        <p:spPr>
          <a:xfrm>
            <a:off x="6534150" y="4226561"/>
            <a:ext cx="4676458" cy="8636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6F4EE"/>
              </a:buClr>
              <a:buSzPts val="6000"/>
              <a:buFont typeface="IBM Plex Sans" panose="020B0503050203000203"/>
              <a:buNone/>
            </a:pPr>
            <a:r>
              <a:rPr lang="en-US" sz="6000" b="1">
                <a:solidFill>
                  <a:srgbClr val="F6F4EE"/>
                </a:solidFill>
                <a:latin typeface="IBM Plex Sans" panose="020B0503050203000203"/>
                <a:ea typeface="IBM Plex Sans" panose="020B0503050203000203"/>
                <a:cs typeface="IBM Plex Sans" panose="020B0503050203000203"/>
                <a:sym typeface="IBM Plex Sans" panose="020B0503050203000203"/>
              </a:rPr>
              <a:t>0.785</a:t>
            </a:r>
            <a:endParaRPr sz="60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91" name="Google Shape;91;p8"/>
          <p:cNvSpPr/>
          <p:nvPr/>
        </p:nvSpPr>
        <p:spPr>
          <a:xfrm>
            <a:off x="812800" y="6238239"/>
            <a:ext cx="264007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B72"/>
              </a:buClr>
              <a:buSzPts val="1200"/>
              <a:buFont typeface="IBM Plex Sans" panose="020B0503050203000203"/>
              <a:buNone/>
            </a:pPr>
            <a:r>
              <a:rPr lang="en-US" sz="1200" b="0" i="0" u="none" strike="noStrike" cap="none">
                <a:solidFill>
                  <a:srgbClr val="5B6B72"/>
                </a:solidFill>
                <a:latin typeface="IBM Plex Sans" panose="020B0503050203000203"/>
                <a:ea typeface="IBM Plex Sans" panose="020B0503050203000203"/>
                <a:cs typeface="IBM Plex Sans" panose="020B0503050203000203"/>
                <a:sym typeface="IBM Plex Sans" panose="020B0503050203000203"/>
              </a:rPr>
              <a:t>Sediment Particle Size ML · 5 / 8</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96" name="Shape 96"/>
        <p:cNvGrpSpPr/>
        <p:nvPr/>
      </p:nvGrpSpPr>
      <p:grpSpPr>
        <a:xfrm>
          <a:off x="0" y="0"/>
          <a:ext cx="0" cy="0"/>
          <a:chOff x="0" y="0"/>
          <a:chExt cx="0" cy="0"/>
        </a:xfrm>
      </p:grpSpPr>
      <p:sp>
        <p:nvSpPr>
          <p:cNvPr id="97" name="Google Shape;97;p9"/>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14232B"/>
              </a:buClr>
              <a:buSzPts val="3600"/>
              <a:buFont typeface="Source Serif 4" panose="02040603050405020204"/>
              <a:buNone/>
            </a:pPr>
            <a:r>
              <a:rPr lang="en-US" sz="3600" b="1" i="0">
                <a:solidFill>
                  <a:srgbClr val="14232B"/>
                </a:solidFill>
                <a:latin typeface="Source Serif 4" panose="02040603050405020204"/>
                <a:ea typeface="Source Serif 4" panose="02040603050405020204"/>
                <a:cs typeface="Source Serif 4" panose="02040603050405020204"/>
                <a:sym typeface="Source Serif 4" panose="02040603050405020204"/>
              </a:rPr>
              <a:t>Model comparison (test R²)</a:t>
            </a:r>
            <a:endParaRPr sz="3600"/>
          </a:p>
        </p:txBody>
      </p:sp>
      <p:graphicFrame>
        <p:nvGraphicFramePr>
          <p:cNvPr id="98" name="Google Shape;98;p9"/>
          <p:cNvGraphicFramePr/>
          <p:nvPr/>
        </p:nvGraphicFramePr>
        <p:xfrm>
          <a:off x="825500" y="1633221"/>
          <a:ext cx="10553725" cy="3000000"/>
        </p:xfrm>
        <a:graphic>
          <a:graphicData uri="http://schemas.openxmlformats.org/drawingml/2006/table">
            <a:tbl>
              <a:tblPr>
                <a:noFill/>
                <a:tableStyleId>{67F8162E-5BC3-426B-B583-3A38E1C278EC}</a:tableStyleId>
              </a:tblPr>
              <a:tblGrid>
                <a:gridCol w="2955025"/>
                <a:gridCol w="1899675"/>
                <a:gridCol w="1899675"/>
                <a:gridCol w="1899675"/>
                <a:gridCol w="1899675"/>
              </a:tblGrid>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Model</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d50 paper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d50 ours</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σ² paper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b="1"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σ² ours</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B6B5B0"/>
                      </a:solidFill>
                      <a:prstDash val="solid"/>
                      <a:round/>
                      <a:headEnd type="none" w="sm" len="sm"/>
                      <a:tailEnd type="none" w="sm" len="sm"/>
                    </a:lnL>
                    <a:lnR w="12700" cap="flat" cmpd="sng">
                      <a:solidFill>
                        <a:srgbClr val="B6B5B0"/>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B6B5B0"/>
                      </a:solidFill>
                      <a:prstDash val="solid"/>
                      <a:round/>
                      <a:headEnd type="none" w="sm" len="sm"/>
                      <a:tailEnd type="none" w="sm" len="sm"/>
                    </a:lnB>
                    <a:solidFill>
                      <a:srgbClr val="E4E2DC"/>
                    </a:solidFill>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Random Forest</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0.81</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0.900</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0.75</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0.764</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B6B5B0"/>
                      </a:solidFill>
                      <a:prstDash val="solid"/>
                      <a:round/>
                      <a:headEnd type="none" w="sm" len="sm"/>
                      <a:tailEnd type="none" w="sm" len="sm"/>
                    </a:lnT>
                    <a:lnB w="12700" cap="flat" cmpd="sng">
                      <a:solidFill>
                        <a:srgbClr val="C4C3BE"/>
                      </a:solidFill>
                      <a:prstDash val="solid"/>
                      <a:round/>
                      <a:headEnd type="none" w="sm" len="sm"/>
                      <a:tailEnd type="none" w="sm" len="sm"/>
                    </a:lnB>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SVR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0.76</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0.885</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0.76</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0.747</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r>
              <a:tr h="439425">
                <a:tc>
                  <a:txBody>
                    <a:bodyPr/>
                    <a:lstStyle/>
                    <a:p>
                      <a:pPr marL="0" marR="0" lvl="0" indent="0" algn="l"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XGBoost</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not in paper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0.905</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u="none" strike="noStrike" cap="none">
                          <a:solidFill>
                            <a:srgbClr val="14232B"/>
                          </a:solidFill>
                          <a:latin typeface="IBM Plex Sans" panose="020B0503050203000203"/>
                          <a:ea typeface="IBM Plex Sans" panose="020B0503050203000203"/>
                          <a:cs typeface="IBM Plex Sans" panose="020B0503050203000203"/>
                          <a:sym typeface="IBM Plex Sans" panose="020B0503050203000203"/>
                        </a:rPr>
                        <a:t>not in paper</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14232B"/>
                        </a:buClr>
                        <a:buSzPts val="1600"/>
                        <a:buFont typeface="IBM Plex Sans" panose="020B0503050203000203"/>
                        <a:buNone/>
                      </a:pPr>
                      <a:r>
                        <a:rPr lang="en-US" sz="1600">
                          <a:solidFill>
                            <a:srgbClr val="14232B"/>
                          </a:solidFill>
                          <a:latin typeface="IBM Plex Sans" panose="020B0503050203000203"/>
                          <a:ea typeface="IBM Plex Sans" panose="020B0503050203000203"/>
                          <a:cs typeface="IBM Plex Sans" panose="020B0503050203000203"/>
                          <a:sym typeface="IBM Plex Sans" panose="020B0503050203000203"/>
                        </a:rPr>
                        <a:t>0.785</a:t>
                      </a:r>
                      <a:endParaRPr sz="1600" u="none" strike="noStrike" cap="none">
                        <a:latin typeface="IBM Plex Sans" panose="020B0503050203000203"/>
                        <a:ea typeface="IBM Plex Sans" panose="020B0503050203000203"/>
                        <a:cs typeface="IBM Plex Sans" panose="020B0503050203000203"/>
                        <a:sym typeface="IBM Plex Sans" panose="020B0503050203000203"/>
                      </a:endParaRPr>
                    </a:p>
                  </a:txBody>
                  <a:tcPr marL="71125" marR="71125" marT="71125" marB="71125">
                    <a:lnL w="12700" cap="flat" cmpd="sng">
                      <a:solidFill>
                        <a:srgbClr val="C4C3BE"/>
                      </a:solidFill>
                      <a:prstDash val="solid"/>
                      <a:round/>
                      <a:headEnd type="none" w="sm" len="sm"/>
                      <a:tailEnd type="none" w="sm" len="sm"/>
                    </a:lnL>
                    <a:lnR w="12700" cap="flat" cmpd="sng">
                      <a:solidFill>
                        <a:srgbClr val="C4C3BE"/>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C4C3BE"/>
                      </a:solidFill>
                      <a:prstDash val="solid"/>
                      <a:round/>
                      <a:headEnd type="none" w="sm" len="sm"/>
                      <a:tailEnd type="none" w="sm" len="sm"/>
                    </a:lnB>
                  </a:tcPr>
                </a:tc>
              </a:tr>
            </a:tbl>
          </a:graphicData>
        </a:graphic>
      </p:graphicFrame>
      <p:sp>
        <p:nvSpPr>
          <p:cNvPr id="99" name="Google Shape;99;p9"/>
          <p:cNvSpPr/>
          <p:nvPr/>
        </p:nvSpPr>
        <p:spPr>
          <a:xfrm>
            <a:off x="812800" y="3695700"/>
            <a:ext cx="10883392" cy="30988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accent3"/>
              </a:buClr>
              <a:buSzPts val="1600"/>
              <a:buFont typeface="IBM Plex Sans" panose="020B0503050203000203"/>
              <a:buNone/>
            </a:pPr>
            <a:r>
              <a:rPr lang="en-US" sz="1600">
                <a:solidFill>
                  <a:schemeClr val="accent3"/>
                </a:solidFill>
                <a:latin typeface="IBM Plex Sans" panose="020B0503050203000203"/>
                <a:ea typeface="IBM Plex Sans" panose="020B0503050203000203"/>
                <a:cs typeface="IBM Plex Sans" panose="020B0503050203000203"/>
                <a:sym typeface="IBM Plex Sans" panose="020B0503050203000203"/>
              </a:rPr>
              <a:t>Best on both targets: </a:t>
            </a:r>
            <a:r>
              <a:rPr lang="en-US" sz="1600" b="1">
                <a:solidFill>
                  <a:schemeClr val="accent3"/>
                </a:solidFill>
                <a:latin typeface="IBM Plex Sans" panose="020B0503050203000203"/>
                <a:ea typeface="IBM Plex Sans" panose="020B0503050203000203"/>
                <a:cs typeface="IBM Plex Sans" panose="020B0503050203000203"/>
                <a:sym typeface="IBM Plex Sans" panose="020B0503050203000203"/>
              </a:rPr>
              <a:t>XGBoost</a:t>
            </a:r>
            <a:r>
              <a:rPr lang="en-US" sz="1600">
                <a:solidFill>
                  <a:schemeClr val="accent3"/>
                </a:solidFill>
                <a:latin typeface="IBM Plex Sans" panose="020B0503050203000203"/>
                <a:ea typeface="IBM Plex Sans" panose="020B0503050203000203"/>
                <a:cs typeface="IBM Plex Sans" panose="020B0503050203000203"/>
                <a:sym typeface="IBM Plex Sans" panose="020B0503050203000203"/>
              </a:rPr>
              <a:t>, ahead of Random Forest by 0.005 on d50 and 0.021 on σ²</a:t>
            </a:r>
            <a:endParaRPr sz="16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33464E"/>
              </a:buClr>
              <a:buSzPts val="1600"/>
              <a:buFont typeface="IBM Plex Sans" panose="020B0503050203000203"/>
              <a:buNone/>
            </a:pPr>
            <a:endParaRPr sz="1600">
              <a:solidFill>
                <a:srgbClr val="33464E"/>
              </a:solidFill>
              <a:latin typeface="IBM Plex Sans" panose="020B0503050203000203"/>
              <a:ea typeface="IBM Plex Sans" panose="020B0503050203000203"/>
              <a:cs typeface="IBM Plex Sans" panose="020B0503050203000203"/>
              <a:sym typeface="IBM Plex Sans" panose="020B0503050203000203"/>
            </a:endParaRPr>
          </a:p>
        </p:txBody>
      </p:sp>
      <p:sp>
        <p:nvSpPr>
          <p:cNvPr id="100" name="Google Shape;100;p9"/>
          <p:cNvSpPr/>
          <p:nvPr/>
        </p:nvSpPr>
        <p:spPr>
          <a:xfrm>
            <a:off x="812800" y="6238239"/>
            <a:ext cx="264007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B72"/>
              </a:buClr>
              <a:buSzPts val="1200"/>
              <a:buFont typeface="IBM Plex Sans" panose="020B0503050203000203"/>
              <a:buNone/>
            </a:pPr>
            <a:r>
              <a:rPr lang="en-US" sz="1200" b="0" i="0" u="none" strike="noStrike" cap="none">
                <a:solidFill>
                  <a:srgbClr val="5B6B72"/>
                </a:solidFill>
                <a:latin typeface="IBM Plex Sans" panose="020B0503050203000203"/>
                <a:ea typeface="IBM Plex Sans" panose="020B0503050203000203"/>
                <a:cs typeface="IBM Plex Sans" panose="020B0503050203000203"/>
                <a:sym typeface="IBM Plex Sans" panose="020B0503050203000203"/>
              </a:rPr>
              <a:t>Sediment Particle Size ML · 6 / 8</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32B"/>
        </a:solidFill>
        <a:effectLst/>
      </p:bgPr>
    </p:bg>
    <p:spTree>
      <p:nvGrpSpPr>
        <p:cNvPr id="105" name="Shape 105"/>
        <p:cNvGrpSpPr/>
        <p:nvPr/>
      </p:nvGrpSpPr>
      <p:grpSpPr>
        <a:xfrm>
          <a:off x="0" y="0"/>
          <a:ext cx="0" cy="0"/>
          <a:chOff x="0" y="0"/>
          <a:chExt cx="0" cy="0"/>
        </a:xfrm>
      </p:grpSpPr>
      <p:sp>
        <p:nvSpPr>
          <p:cNvPr id="106" name="Google Shape;106;p10"/>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F6F4EE"/>
              </a:buClr>
              <a:buSzPts val="3600"/>
              <a:buFont typeface="Source Serif 4" panose="02040603050405020204"/>
              <a:buNone/>
            </a:pPr>
            <a:r>
              <a:rPr lang="en-US" sz="3600" b="1" i="0">
                <a:solidFill>
                  <a:srgbClr val="F6F4EE"/>
                </a:solidFill>
                <a:latin typeface="Source Serif 4" panose="02040603050405020204"/>
                <a:ea typeface="Source Serif 4" panose="02040603050405020204"/>
                <a:cs typeface="Source Serif 4" panose="02040603050405020204"/>
                <a:sym typeface="Source Serif 4" panose="02040603050405020204"/>
              </a:rPr>
              <a:t>Key findings</a:t>
            </a:r>
            <a:endParaRPr sz="3600"/>
          </a:p>
        </p:txBody>
      </p:sp>
      <p:sp>
        <p:nvSpPr>
          <p:cNvPr id="107" name="Google Shape;107;p10"/>
          <p:cNvSpPr/>
          <p:nvPr/>
        </p:nvSpPr>
        <p:spPr>
          <a:xfrm>
            <a:off x="812800" y="1671325"/>
            <a:ext cx="5181600" cy="1599300"/>
          </a:xfrm>
          <a:prstGeom prst="roundRect">
            <a:avLst>
              <a:gd name="adj" fmla="val 6711"/>
            </a:avLst>
          </a:prstGeom>
          <a:solidFill>
            <a:srgbClr val="1D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08;p10"/>
          <p:cNvSpPr/>
          <p:nvPr/>
        </p:nvSpPr>
        <p:spPr>
          <a:xfrm>
            <a:off x="1066800" y="1925321"/>
            <a:ext cx="48138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1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Reproduction</a:t>
            </a:r>
            <a:endParaRPr sz="21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09" name="Google Shape;109;p10"/>
          <p:cNvSpPr/>
          <p:nvPr/>
        </p:nvSpPr>
        <p:spPr>
          <a:xfrm>
            <a:off x="1066800" y="2362200"/>
            <a:ext cx="4813808" cy="59436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lt1"/>
              </a:buClr>
              <a:buSzPts val="1600"/>
              <a:buFont typeface="IBM Plex Sans" panose="020B0503050203000203"/>
              <a:buNone/>
            </a:pPr>
            <a:r>
              <a:rPr lang="en-US" sz="1500">
                <a:solidFill>
                  <a:schemeClr val="lt1"/>
                </a:solidFill>
                <a:latin typeface="IBM Plex Sans" panose="020B0503050203000203"/>
                <a:ea typeface="IBM Plex Sans" panose="020B0503050203000203"/>
                <a:cs typeface="IBM Plex Sans" panose="020B0503050203000203"/>
                <a:sym typeface="IBM Plex Sans" panose="020B0503050203000203"/>
              </a:rPr>
              <a:t>Random Forest and SVR reach 0.90 and 0.89 on d50, above the paper's 0.81 and 0.76, and land within 0.02 of the paper on σ².</a:t>
            </a:r>
            <a:endParaRPr sz="15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F6F4EE"/>
              </a:buClr>
              <a:buSzPts val="1600"/>
              <a:buFont typeface="IBM Plex Sans" panose="020B0503050203000203"/>
              <a:buNone/>
            </a:pPr>
            <a:endParaRPr sz="1600">
              <a:solidFill>
                <a:srgbClr val="F6F4EE"/>
              </a:solidFill>
              <a:latin typeface="IBM Plex Sans" panose="020B0503050203000203"/>
              <a:ea typeface="IBM Plex Sans" panose="020B0503050203000203"/>
              <a:cs typeface="IBM Plex Sans" panose="020B0503050203000203"/>
              <a:sym typeface="IBM Plex Sans" panose="020B0503050203000203"/>
            </a:endParaRPr>
          </a:p>
        </p:txBody>
      </p:sp>
      <p:sp>
        <p:nvSpPr>
          <p:cNvPr id="110" name="Google Shape;110;p10"/>
          <p:cNvSpPr/>
          <p:nvPr/>
        </p:nvSpPr>
        <p:spPr>
          <a:xfrm>
            <a:off x="6197600" y="1671325"/>
            <a:ext cx="5181600" cy="1599300"/>
          </a:xfrm>
          <a:prstGeom prst="roundRect">
            <a:avLst>
              <a:gd name="adj" fmla="val 6711"/>
            </a:avLst>
          </a:prstGeom>
          <a:solidFill>
            <a:srgbClr val="1D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10"/>
          <p:cNvSpPr/>
          <p:nvPr/>
        </p:nvSpPr>
        <p:spPr>
          <a:xfrm>
            <a:off x="6451600" y="1925321"/>
            <a:ext cx="48138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1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Extension</a:t>
            </a:r>
            <a:endParaRPr sz="21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12" name="Google Shape;112;p10"/>
          <p:cNvSpPr/>
          <p:nvPr/>
        </p:nvSpPr>
        <p:spPr>
          <a:xfrm>
            <a:off x="6451600" y="2362200"/>
            <a:ext cx="4813808" cy="59436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lt1"/>
              </a:buClr>
              <a:buSzPts val="1600"/>
              <a:buFont typeface="IBM Plex Sans" panose="020B0503050203000203"/>
              <a:buNone/>
            </a:pPr>
            <a:r>
              <a:rPr lang="en-US" sz="1500">
                <a:solidFill>
                  <a:schemeClr val="lt1"/>
                </a:solidFill>
                <a:latin typeface="IBM Plex Sans" panose="020B0503050203000203"/>
                <a:ea typeface="IBM Plex Sans" panose="020B0503050203000203"/>
                <a:cs typeface="IBM Plex Sans" panose="020B0503050203000203"/>
                <a:sym typeface="IBM Plex Sans" panose="020B0503050203000203"/>
              </a:rPr>
              <a:t>XGBoost edges out Random Forest: 0.905 vs 0.900 on d50 and 0.785 vs 0.764 on σ².</a:t>
            </a:r>
            <a:endParaRPr sz="15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F6F4EE"/>
              </a:buClr>
              <a:buSzPts val="1600"/>
              <a:buFont typeface="IBM Plex Sans" panose="020B0503050203000203"/>
              <a:buNone/>
            </a:pPr>
            <a:endParaRPr sz="1600">
              <a:solidFill>
                <a:srgbClr val="F6F4EE"/>
              </a:solidFill>
              <a:latin typeface="IBM Plex Sans" panose="020B0503050203000203"/>
              <a:ea typeface="IBM Plex Sans" panose="020B0503050203000203"/>
              <a:cs typeface="IBM Plex Sans" panose="020B0503050203000203"/>
              <a:sym typeface="IBM Plex Sans" panose="020B0503050203000203"/>
            </a:endParaRPr>
          </a:p>
        </p:txBody>
      </p:sp>
      <p:sp>
        <p:nvSpPr>
          <p:cNvPr id="113" name="Google Shape;113;p10"/>
          <p:cNvSpPr/>
          <p:nvPr/>
        </p:nvSpPr>
        <p:spPr>
          <a:xfrm>
            <a:off x="812800" y="3388349"/>
            <a:ext cx="5181600" cy="1599300"/>
          </a:xfrm>
          <a:prstGeom prst="roundRect">
            <a:avLst>
              <a:gd name="adj" fmla="val 6711"/>
            </a:avLst>
          </a:prstGeom>
          <a:solidFill>
            <a:srgbClr val="1D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10"/>
          <p:cNvSpPr/>
          <p:nvPr/>
        </p:nvSpPr>
        <p:spPr>
          <a:xfrm>
            <a:off x="1066800" y="3642361"/>
            <a:ext cx="48138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1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Features</a:t>
            </a:r>
            <a:endParaRPr sz="21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15" name="Google Shape;115;p10"/>
          <p:cNvSpPr/>
          <p:nvPr/>
        </p:nvSpPr>
        <p:spPr>
          <a:xfrm>
            <a:off x="1066800" y="4079239"/>
            <a:ext cx="4813808" cy="59436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lt1"/>
              </a:buClr>
              <a:buSzPts val="1600"/>
              <a:buFont typeface="IBM Plex Sans" panose="020B0503050203000203"/>
              <a:buNone/>
            </a:pPr>
            <a:r>
              <a:rPr lang="en-US" sz="1500">
                <a:solidFill>
                  <a:schemeClr val="lt1"/>
                </a:solidFill>
                <a:latin typeface="IBM Plex Sans" panose="020B0503050203000203"/>
                <a:ea typeface="IBM Plex Sans" panose="020B0503050203000203"/>
                <a:cs typeface="IBM Plex Sans" panose="020B0503050203000203"/>
                <a:sym typeface="IBM Plex Sans" panose="020B0503050203000203"/>
              </a:rPr>
              <a:t>S carries 92% of the importance for d50. For σ², ub (45%) and S (43%) share it.</a:t>
            </a:r>
            <a:endParaRPr sz="15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F6F4EE"/>
              </a:buClr>
              <a:buSzPts val="1600"/>
              <a:buFont typeface="IBM Plex Sans" panose="020B0503050203000203"/>
              <a:buNone/>
            </a:pPr>
            <a:endParaRPr sz="1600">
              <a:solidFill>
                <a:srgbClr val="F6F4EE"/>
              </a:solidFill>
              <a:latin typeface="IBM Plex Sans" panose="020B0503050203000203"/>
              <a:ea typeface="IBM Plex Sans" panose="020B0503050203000203"/>
              <a:cs typeface="IBM Plex Sans" panose="020B0503050203000203"/>
              <a:sym typeface="IBM Plex Sans" panose="020B0503050203000203"/>
            </a:endParaRPr>
          </a:p>
        </p:txBody>
      </p:sp>
      <p:sp>
        <p:nvSpPr>
          <p:cNvPr id="116" name="Google Shape;116;p10"/>
          <p:cNvSpPr/>
          <p:nvPr/>
        </p:nvSpPr>
        <p:spPr>
          <a:xfrm>
            <a:off x="6197600" y="3388350"/>
            <a:ext cx="5181600" cy="1599300"/>
          </a:xfrm>
          <a:prstGeom prst="roundRect">
            <a:avLst>
              <a:gd name="adj" fmla="val 6711"/>
            </a:avLst>
          </a:prstGeom>
          <a:solidFill>
            <a:srgbClr val="1D3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0"/>
          <p:cNvSpPr/>
          <p:nvPr/>
        </p:nvSpPr>
        <p:spPr>
          <a:xfrm>
            <a:off x="6451600" y="3642361"/>
            <a:ext cx="481380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1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Limits</a:t>
            </a:r>
            <a:endParaRPr sz="21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18" name="Google Shape;118;p10"/>
          <p:cNvSpPr/>
          <p:nvPr/>
        </p:nvSpPr>
        <p:spPr>
          <a:xfrm>
            <a:off x="6451600" y="4079239"/>
            <a:ext cx="4813808" cy="59436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lt1"/>
              </a:buClr>
              <a:buSzPts val="1600"/>
              <a:buFont typeface="IBM Plex Sans" panose="020B0503050203000203"/>
              <a:buNone/>
            </a:pPr>
            <a:r>
              <a:rPr lang="en-US" sz="1600">
                <a:solidFill>
                  <a:schemeClr val="lt1"/>
                </a:solidFill>
                <a:latin typeface="IBM Plex Sans" panose="020B0503050203000203"/>
                <a:ea typeface="IBM Plex Sans" panose="020B0503050203000203"/>
                <a:cs typeface="IBM Plex Sans" panose="020B0503050203000203"/>
                <a:sym typeface="IBM Plex Sans" panose="020B0503050203000203"/>
              </a:rPr>
              <a:t>One random split, and XGBoost settings were not tuned.</a:t>
            </a:r>
            <a:endParaRPr sz="16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F6F4EE"/>
              </a:buClr>
              <a:buSzPts val="1600"/>
              <a:buFont typeface="IBM Plex Sans" panose="020B0503050203000203"/>
              <a:buNone/>
            </a:pPr>
            <a:endParaRPr sz="1600">
              <a:solidFill>
                <a:srgbClr val="F6F4EE"/>
              </a:solidFill>
              <a:latin typeface="IBM Plex Sans" panose="020B0503050203000203"/>
              <a:ea typeface="IBM Plex Sans" panose="020B0503050203000203"/>
              <a:cs typeface="IBM Plex Sans" panose="020B0503050203000203"/>
              <a:sym typeface="IBM Plex Sans" panose="020B0503050203000203"/>
            </a:endParaRPr>
          </a:p>
        </p:txBody>
      </p:sp>
      <p:sp>
        <p:nvSpPr>
          <p:cNvPr id="119" name="Google Shape;119;p10"/>
          <p:cNvSpPr/>
          <p:nvPr/>
        </p:nvSpPr>
        <p:spPr>
          <a:xfrm>
            <a:off x="812800" y="6238239"/>
            <a:ext cx="264007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9CCD1"/>
              </a:buClr>
              <a:buSzPts val="1200"/>
              <a:buFont typeface="IBM Plex Sans" panose="020B0503050203000203"/>
              <a:buNone/>
            </a:pPr>
            <a:r>
              <a:rPr lang="en-US" sz="1200" b="0" i="0" u="none" strike="noStrike" cap="none">
                <a:solidFill>
                  <a:srgbClr val="B9CCD1"/>
                </a:solidFill>
                <a:latin typeface="IBM Plex Sans" panose="020B0503050203000203"/>
                <a:ea typeface="IBM Plex Sans" panose="020B0503050203000203"/>
                <a:cs typeface="IBM Plex Sans" panose="020B0503050203000203"/>
                <a:sym typeface="IBM Plex Sans" panose="020B0503050203000203"/>
              </a:rPr>
              <a:t>Sediment Particle Size ML · 7 / 8</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24" name="Shape 124"/>
        <p:cNvGrpSpPr/>
        <p:nvPr/>
      </p:nvGrpSpPr>
      <p:grpSpPr>
        <a:xfrm>
          <a:off x="0" y="0"/>
          <a:ext cx="0" cy="0"/>
          <a:chOff x="0" y="0"/>
          <a:chExt cx="0" cy="0"/>
        </a:xfrm>
      </p:grpSpPr>
      <p:sp>
        <p:nvSpPr>
          <p:cNvPr id="125" name="Google Shape;125;p11"/>
          <p:cNvSpPr txBox="1"/>
          <p:nvPr>
            <p:ph type="title"/>
          </p:nvPr>
        </p:nvSpPr>
        <p:spPr>
          <a:xfrm>
            <a:off x="812800" y="812800"/>
            <a:ext cx="10883392" cy="52832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14232B"/>
              </a:buClr>
              <a:buSzPts val="3600"/>
              <a:buFont typeface="Source Serif 4" panose="02040603050405020204"/>
              <a:buNone/>
            </a:pPr>
            <a:r>
              <a:rPr lang="en-US" sz="3600" b="1" i="0">
                <a:solidFill>
                  <a:srgbClr val="14232B"/>
                </a:solidFill>
                <a:latin typeface="Source Serif 4" panose="02040603050405020204"/>
                <a:ea typeface="Source Serif 4" panose="02040603050405020204"/>
                <a:cs typeface="Source Serif 4" panose="02040603050405020204"/>
                <a:sym typeface="Source Serif 4" panose="02040603050405020204"/>
              </a:rPr>
              <a:t>Conclusion, demo and next steps</a:t>
            </a:r>
            <a:endParaRPr sz="3600"/>
          </a:p>
        </p:txBody>
      </p:sp>
      <p:sp>
        <p:nvSpPr>
          <p:cNvPr id="126" name="Google Shape;126;p11"/>
          <p:cNvSpPr/>
          <p:nvPr/>
        </p:nvSpPr>
        <p:spPr>
          <a:xfrm>
            <a:off x="815975" y="1674496"/>
            <a:ext cx="5156200" cy="2343150"/>
          </a:xfrm>
          <a:prstGeom prst="roundRect">
            <a:avLst>
              <a:gd name="adj" fmla="val 4201"/>
            </a:avLst>
          </a:prstGeom>
          <a:solidFill>
            <a:srgbClr val="FFFFFF"/>
          </a:solidFill>
          <a:ln w="9525" cap="flat" cmpd="sng">
            <a:solidFill>
              <a:srgbClr val="DDD8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11"/>
          <p:cNvSpPr/>
          <p:nvPr/>
        </p:nvSpPr>
        <p:spPr>
          <a:xfrm>
            <a:off x="1123950" y="1982471"/>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B6F7E"/>
              </a:buClr>
              <a:buSzPts val="2200"/>
              <a:buFont typeface="IBM Plex Sans" panose="020B0503050203000203"/>
              <a:buNone/>
            </a:pPr>
            <a:r>
              <a:rPr lang="en-US" sz="2200" b="1" i="0" u="none" strike="noStrike" cap="none">
                <a:solidFill>
                  <a:srgbClr val="2B6F7E"/>
                </a:solidFill>
                <a:latin typeface="IBM Plex Sans" panose="020B0503050203000203"/>
                <a:ea typeface="IBM Plex Sans" panose="020B0503050203000203"/>
                <a:cs typeface="IBM Plex Sans" panose="020B0503050203000203"/>
                <a:sym typeface="IBM Plex Sans" panose="020B0503050203000203"/>
              </a:rPr>
              <a:t>Conclusion</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28" name="Google Shape;128;p11"/>
          <p:cNvSpPr/>
          <p:nvPr/>
        </p:nvSpPr>
        <p:spPr>
          <a:xfrm>
            <a:off x="1123950" y="2444750"/>
            <a:ext cx="4676458"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We reproduced Random Forest and SVR and added XGBoost on the same data.</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29" name="Google Shape;129;p11"/>
          <p:cNvSpPr/>
          <p:nvPr/>
        </p:nvSpPr>
        <p:spPr>
          <a:xfrm>
            <a:off x="1123950" y="3140711"/>
            <a:ext cx="4676458" cy="59436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accent3"/>
              </a:buClr>
              <a:buSzPts val="1600"/>
              <a:buFont typeface="IBM Plex Sans" panose="020B0503050203000203"/>
              <a:buNone/>
            </a:pPr>
            <a:r>
              <a:rPr lang="en-US" sz="1600">
                <a:solidFill>
                  <a:schemeClr val="accent3"/>
                </a:solidFill>
                <a:latin typeface="IBM Plex Sans" panose="020B0503050203000203"/>
                <a:ea typeface="IBM Plex Sans" panose="020B0503050203000203"/>
                <a:cs typeface="IBM Plex Sans" panose="020B0503050203000203"/>
                <a:sym typeface="IBM Plex Sans" panose="020B0503050203000203"/>
              </a:rPr>
              <a:t>XGBoost gave the best R² on both targets, by a small margin on d50 and a larger one on σ².</a:t>
            </a:r>
            <a:endParaRPr sz="1600">
              <a:solidFill>
                <a:schemeClr val="dk1"/>
              </a:solidFill>
              <a:latin typeface="IBM Plex Sans" panose="020B0503050203000203"/>
              <a:ea typeface="IBM Plex Sans" panose="020B0503050203000203"/>
              <a:cs typeface="IBM Plex Sans" panose="020B0503050203000203"/>
              <a:sym typeface="IBM Plex Sans" panose="020B0503050203000203"/>
            </a:endParaRPr>
          </a:p>
          <a:p>
            <a:pPr marL="0" marR="0" lvl="0" indent="0" algn="l" rtl="0">
              <a:lnSpc>
                <a:spcPct val="140000"/>
              </a:lnSpc>
              <a:spcBef>
                <a:spcPts val="0"/>
              </a:spcBef>
              <a:spcAft>
                <a:spcPts val="0"/>
              </a:spcAft>
              <a:buClr>
                <a:srgbClr val="33464E"/>
              </a:buClr>
              <a:buSzPts val="1600"/>
              <a:buFont typeface="IBM Plex Sans" panose="020B0503050203000203"/>
              <a:buNone/>
            </a:pPr>
            <a:endParaRPr sz="1600">
              <a:solidFill>
                <a:srgbClr val="33464E"/>
              </a:solidFill>
              <a:latin typeface="IBM Plex Sans" panose="020B0503050203000203"/>
              <a:ea typeface="IBM Plex Sans" panose="020B0503050203000203"/>
              <a:cs typeface="IBM Plex Sans" panose="020B0503050203000203"/>
              <a:sym typeface="IBM Plex Sans" panose="020B0503050203000203"/>
            </a:endParaRPr>
          </a:p>
        </p:txBody>
      </p:sp>
      <p:sp>
        <p:nvSpPr>
          <p:cNvPr id="130" name="Google Shape;130;p11"/>
          <p:cNvSpPr/>
          <p:nvPr/>
        </p:nvSpPr>
        <p:spPr>
          <a:xfrm>
            <a:off x="6229350" y="1671321"/>
            <a:ext cx="5149850" cy="2349500"/>
          </a:xfrm>
          <a:prstGeom prst="roundRect">
            <a:avLst>
              <a:gd name="adj" fmla="val 4324"/>
            </a:avLst>
          </a:prstGeom>
          <a:solidFill>
            <a:srgbClr val="1423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11"/>
          <p:cNvSpPr/>
          <p:nvPr/>
        </p:nvSpPr>
        <p:spPr>
          <a:xfrm>
            <a:off x="6534150" y="1976121"/>
            <a:ext cx="4676458"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0A458"/>
              </a:buClr>
              <a:buSzPts val="2200"/>
              <a:buFont typeface="IBM Plex Sans" panose="020B0503050203000203"/>
              <a:buNone/>
            </a:pPr>
            <a:r>
              <a:rPr lang="en-US" sz="2200" b="1" i="0" u="none" strike="noStrike" cap="none">
                <a:solidFill>
                  <a:srgbClr val="E0A458"/>
                </a:solidFill>
                <a:latin typeface="IBM Plex Sans" panose="020B0503050203000203"/>
                <a:ea typeface="IBM Plex Sans" panose="020B0503050203000203"/>
                <a:cs typeface="IBM Plex Sans" panose="020B0503050203000203"/>
                <a:sym typeface="IBM Plex Sans" panose="020B0503050203000203"/>
              </a:rPr>
              <a:t>Demo video · 3 min</a:t>
            </a:r>
            <a:endParaRPr sz="2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32" name="Google Shape;132;p11"/>
          <p:cNvSpPr/>
          <p:nvPr/>
        </p:nvSpPr>
        <p:spPr>
          <a:xfrm>
            <a:off x="6534150" y="2438400"/>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Upload the CSV in Colab</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33" name="Google Shape;133;p11"/>
          <p:cNvSpPr/>
          <p:nvPr/>
        </p:nvSpPr>
        <p:spPr>
          <a:xfrm>
            <a:off x="6534150" y="2849879"/>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Run all three models</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34" name="Google Shape;134;p11"/>
          <p:cNvSpPr/>
          <p:nvPr/>
        </p:nvSpPr>
        <p:spPr>
          <a:xfrm>
            <a:off x="6534150" y="3261361"/>
            <a:ext cx="4676458"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F4EE"/>
              </a:buClr>
              <a:buSzPts val="1600"/>
              <a:buFont typeface="IBM Plex Sans" panose="020B0503050203000203"/>
              <a:buNone/>
            </a:pPr>
            <a:r>
              <a:rPr lang="en-US" sz="1600" b="0" i="0" u="none" strike="noStrike" cap="none">
                <a:solidFill>
                  <a:srgbClr val="F6F4EE"/>
                </a:solidFill>
                <a:latin typeface="IBM Plex Sans" panose="020B0503050203000203"/>
                <a:ea typeface="IBM Plex Sans" panose="020B0503050203000203"/>
                <a:cs typeface="IBM Plex Sans" panose="020B0503050203000203"/>
                <a:sym typeface="IBM Plex Sans" panose="020B0503050203000203"/>
              </a:rPr>
              <a:t>Show the comparison table</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35" name="Google Shape;135;p11"/>
          <p:cNvSpPr/>
          <p:nvPr/>
        </p:nvSpPr>
        <p:spPr>
          <a:xfrm>
            <a:off x="812800" y="4376421"/>
            <a:ext cx="10883392" cy="3098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3464E"/>
              </a:buClr>
              <a:buSzPts val="1600"/>
              <a:buFont typeface="IBM Plex Sans" panose="020B0503050203000203"/>
              <a:buNone/>
            </a:pPr>
            <a:r>
              <a:rPr lang="en-US" sz="1600" b="1"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Next steps:</a:t>
            </a:r>
            <a:r>
              <a:rPr lang="en-US" sz="1600" b="0" i="0" u="none" strike="noStrike" cap="none">
                <a:solidFill>
                  <a:srgbClr val="33464E"/>
                </a:solidFill>
                <a:latin typeface="IBM Plex Sans" panose="020B0503050203000203"/>
                <a:ea typeface="IBM Plex Sans" panose="020B0503050203000203"/>
                <a:cs typeface="IBM Plex Sans" panose="020B0503050203000203"/>
                <a:sym typeface="IBM Plex Sans" panose="020B0503050203000203"/>
              </a:rPr>
              <a:t> tune hyperparameters on the validation set, use k-fold cross-validation, test on new sites.</a:t>
            </a:r>
            <a:endParaRPr sz="16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
        <p:nvSpPr>
          <p:cNvPr id="136" name="Google Shape;136;p11"/>
          <p:cNvSpPr/>
          <p:nvPr/>
        </p:nvSpPr>
        <p:spPr>
          <a:xfrm>
            <a:off x="812800" y="6238242"/>
            <a:ext cx="370001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6B72"/>
              </a:buClr>
              <a:buSzPts val="1200"/>
              <a:buFont typeface="IBM Plex Sans" panose="020B0503050203000203"/>
              <a:buNone/>
            </a:pPr>
            <a:r>
              <a:rPr lang="en-US" sz="1200" b="0" i="0" u="none" strike="noStrike" cap="none">
                <a:solidFill>
                  <a:srgbClr val="5B6B72"/>
                </a:solidFill>
                <a:latin typeface="IBM Plex Sans" panose="020B0503050203000203"/>
                <a:ea typeface="IBM Plex Sans" panose="020B0503050203000203"/>
                <a:cs typeface="IBM Plex Sans" panose="020B0503050203000203"/>
                <a:sym typeface="IBM Plex Sans" panose="020B0503050203000203"/>
              </a:rPr>
              <a:t>Sediment Particle Size ML · 8 / 8 · Questions?</a:t>
            </a:r>
            <a:endParaRPr sz="1200" b="0" i="0" u="none" strike="noStrike" cap="none">
              <a:solidFill>
                <a:schemeClr val="dk1"/>
              </a:solidFill>
              <a:latin typeface="IBM Plex Sans" panose="020B0503050203000203"/>
              <a:ea typeface="IBM Plex Sans" panose="020B0503050203000203"/>
              <a:cs typeface="IBM Plex Sans" panose="020B0503050203000203"/>
              <a:sym typeface="IBM Plex Sans" panose="020B0503050203000203"/>
            </a:endParaRPr>
          </a:p>
        </p:txBody>
      </p:sp>
    </p:spTree>
  </p:cSld>
  <p:clrMapOvr>
    <a:masterClrMapping/>
  </p:clrMapOvr>
</p:sld>
</file>

<file path=ppt/theme/theme1.xml><?xml version="1.0" encoding="utf-8"?>
<a:theme xmlns:a="http://schemas.openxmlformats.org/drawingml/2006/main" name="Sediment Particle Size ML">
  <a:themeElements>
    <a:clrScheme name="Sediment Particle Size ML">
      <a:dk1>
        <a:srgbClr val="14232B"/>
      </a:dk1>
      <a:lt1>
        <a:srgbClr val="F6F4EE"/>
      </a:lt1>
      <a:dk2>
        <a:srgbClr val="4D575C"/>
      </a:dk2>
      <a:lt2>
        <a:srgbClr val="DFDFDB"/>
      </a:lt2>
      <a:accent1>
        <a:srgbClr val="E0A458"/>
      </a:accent1>
      <a:accent2>
        <a:srgbClr val="2B6F7E"/>
      </a:accent2>
      <a:accent3>
        <a:srgbClr val="33464E"/>
      </a:accent3>
      <a:accent4>
        <a:srgbClr val="5B6B72"/>
      </a:accent4>
      <a:accent5>
        <a:srgbClr val="B9CCD1"/>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diment Particle Size ML">
  <a:themeElements>
    <a:clrScheme name="Sediment Particle Size ML">
      <a:dk1>
        <a:srgbClr val="14232B"/>
      </a:dk1>
      <a:lt1>
        <a:srgbClr val="F6F4EE"/>
      </a:lt1>
      <a:dk2>
        <a:srgbClr val="4D575C"/>
      </a:dk2>
      <a:lt2>
        <a:srgbClr val="DFDFDB"/>
      </a:lt2>
      <a:accent1>
        <a:srgbClr val="E0A458"/>
      </a:accent1>
      <a:accent2>
        <a:srgbClr val="2B6F7E"/>
      </a:accent2>
      <a:accent3>
        <a:srgbClr val="33464E"/>
      </a:accent3>
      <a:accent4>
        <a:srgbClr val="5B6B72"/>
      </a:accent4>
      <a:accent5>
        <a:srgbClr val="B9CCD1"/>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2793</Words>
  <Application>WPS Presentation</Application>
  <PresentationFormat/>
  <Paragraphs>229</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Arial</vt:lpstr>
      <vt:lpstr>Source Serif 4</vt:lpstr>
      <vt:lpstr>IBM Plex Sans</vt:lpstr>
      <vt:lpstr>Microsoft YaHei</vt:lpstr>
      <vt:lpstr>Arial Unicode MS</vt:lpstr>
      <vt:lpstr>Sediment Particle Size ML</vt:lpstr>
      <vt:lpstr>Predicting Sediment Particle Size Distributions with Machine Learning</vt:lpstr>
      <vt:lpstr>Problem statement and dataset</vt:lpstr>
      <vt:lpstr>Existing approaches and our add-on</vt:lpstr>
      <vt:lpstr>Reproduced results from the reference</vt:lpstr>
      <vt:lpstr>Extension results: XGBoost</vt:lpstr>
      <vt:lpstr>Model comparison (test R²)</vt:lpstr>
      <vt:lpstr>Key findings</vt:lpstr>
      <vt:lpstr>Conclusion, demo and next steps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Sediment Particle Size Distributions with Machine Learning</dc:title>
  <dc:creator/>
  <cp:lastModifiedBy>PRATHEEK P SHETTIGAR</cp:lastModifiedBy>
  <cp:revision>1</cp:revision>
  <dcterms:created xsi:type="dcterms:W3CDTF">2026-10-13T17:30:58Z</dcterms:created>
  <dcterms:modified xsi:type="dcterms:W3CDTF">2026-10-13T17:30:58Z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7FBDEE6A526E496C892CB86A6A958464_12</vt:lpwstr>
  </property>
  <property fmtid="{D5CDD505-2E9C-101B-9397-08002B2CF9AE}" pid="3" name="KSOProductBuildVer">
    <vt:lpwstr>1033-12.1.0.29162</vt:lpwstr>
  </property>
</Properties>
</file>